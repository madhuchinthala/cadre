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58A6FF"/>
                </a:solidFill>
                <a:latin typeface="Calibri"/>
              </a:defRPr>
            </a:pPr>
            <a:r>
              <a:t>CADRE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E6EDF3"/>
                </a:solidFill>
                <a:latin typeface="Calibri"/>
              </a:defRPr>
            </a:pPr>
            <a:r>
              <a:t>Continual Adaptation for Driving with Robust Evolution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017520"/>
            <a:ext cx="4846320" cy="1828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D29922"/>
                </a:solidFill>
                <a:latin typeface="Calibri"/>
              </a:defRPr>
            </a:pPr>
            <a:r>
              <a:t>Problem Statement B5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84048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  <a:latin typeface="Calibri"/>
              </a:defRPr>
            </a:pPr>
            <a:r>
              <a:t>Design a continual adaptation method for VLA autonomous driving models that incorporates new regional regulations, road layouts, and weather patterns while retaining prior driving competence across previously learned environments.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Calibri"/>
              </a:defRPr>
            </a:pPr>
            <a:r>
              <a:t>Datasets: BDD100K + nuScenes  |  Backbone: LLaVA-v1.5-7B  |  Method: EWC + Replay + LoRA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5760720"/>
            <a:ext cx="5760720" cy="731520"/>
          </a:xfrm>
          <a:prstGeom prst="roundRect">
            <a:avLst/>
          </a:prstGeom>
          <a:solidFill>
            <a:srgbClr val="161B2C"/>
          </a:solidFill>
          <a:ln w="1905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580644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FB950"/>
                </a:solidFill>
                <a:latin typeface="Calibri"/>
              </a:defRPr>
            </a:pPr>
            <a:r>
              <a:t>CDAR = 0.9735  |  BWT = -1.17%  |  FWT = +23.33%  |  Efficiency = 99.65%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8A6FF"/>
                </a:solidFill>
                <a:latin typeface="Calibri"/>
              </a:defRPr>
            </a:pPr>
            <a:r>
              <a:t>Problem: Catastrophic Forgetting in Autonomous Driving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D29922"/>
                </a:solidFill>
                <a:latin typeface="Calibri"/>
              </a:defRPr>
            </a:pPr>
            <a:r>
              <a:t>What is Catastrophic Forgetting?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E6EDF3"/>
                </a:solidFill>
                <a:latin typeface="Calibri"/>
              </a:defRPr>
            </a:pPr>
            <a:r>
              <a:t>When a neural network learns a new task, it tends to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6EDF3"/>
                </a:solidFill>
                <a:latin typeface="Calibri"/>
              </a:defRPr>
            </a:pPr>
            <a:r>
              <a:t>FORGET previously learned tasks. This is disastrous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6EDF3"/>
                </a:solidFill>
                <a:latin typeface="Calibri"/>
              </a:defRPr>
            </a:pPr>
            <a:r>
              <a:t>for self-driving cars that must handle: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0">
                <a:solidFill>
                  <a:srgbClr val="58A6FF"/>
                </a:solidFill>
                <a:latin typeface="Calibri"/>
              </a:defRPr>
            </a:pPr>
            <a:r>
              <a:t>  🇺🇸  US road rules &amp; layouts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3FB950"/>
                </a:solidFill>
                <a:latin typeface="Calibri"/>
              </a:defRPr>
            </a:pPr>
            <a:r>
              <a:t>  🇸🇬  Singapore road rules &amp; layouts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D29922"/>
                </a:solidFill>
                <a:latin typeface="Calibri"/>
              </a:defRPr>
            </a:pPr>
            <a:r>
              <a:t>  🇪🇺  European road rules &amp; layouts</a:t>
            </a:r>
          </a:p>
          <a:p>
            <a:pPr algn="l">
              <a:spcBef>
                <a:spcPts val="400"/>
              </a:spcBef>
              <a:defRPr sz="1500" b="0">
                <a:solidFill>
                  <a:srgbClr val="BC8CFF"/>
                </a:solidFill>
                <a:latin typeface="Calibri"/>
              </a:defRPr>
            </a:pPr>
            <a:r>
              <a:t>  🌧️  Rainy / foggy / snowy weather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E6EDF3"/>
                </a:solidFill>
                <a:latin typeface="Calibri"/>
              </a:defRPr>
            </a:pPr>
            <a:r>
              <a:t>A deployed model must adapt to NEW regions without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6EDF3"/>
                </a:solidFill>
                <a:latin typeface="Calibri"/>
              </a:defRPr>
            </a:pPr>
            <a:r>
              <a:t>forgetting how to drive in OLD regions.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3FB950"/>
                </a:solidFill>
                <a:latin typeface="Calibri"/>
              </a:defRPr>
            </a:pPr>
            <a:r>
              <a:t>Our Solution: CADRE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E6EDF3"/>
                </a:solidFill>
                <a:latin typeface="Calibri"/>
              </a:defRPr>
            </a:pPr>
            <a:r>
              <a:t>Three strategies working together: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1">
                <a:solidFill>
                  <a:srgbClr val="D29922"/>
                </a:solidFill>
                <a:latin typeface="Calibri"/>
              </a:defRPr>
            </a:pPr>
            <a:r>
              <a:t>1. EWC (Elastic Weight Consolidation)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8B949E"/>
                </a:solidFill>
                <a:latin typeface="Calibri"/>
              </a:defRPr>
            </a:pPr>
            <a:r>
              <a:t>   Protects important weights from being overwritten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1">
                <a:solidFill>
                  <a:srgbClr val="F85149"/>
                </a:solidFill>
                <a:latin typeface="Calibri"/>
              </a:defRPr>
            </a:pPr>
            <a:r>
              <a:t>2. Experience Replay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8B949E"/>
                </a:solidFill>
                <a:latin typeface="Calibri"/>
              </a:defRPr>
            </a:pPr>
            <a:r>
              <a:t>   Mixes 30% old data into new training batches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1">
                <a:solidFill>
                  <a:srgbClr val="58A6FF"/>
                </a:solidFill>
                <a:latin typeface="Calibri"/>
              </a:defRPr>
            </a:pPr>
            <a:r>
              <a:t>3. LoRA Adapters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8B949E"/>
                </a:solidFill>
                <a:latin typeface="Calibri"/>
              </a:defRPr>
            </a:pPr>
            <a:r>
              <a:t>   Only 0.35% extra parameters per domain (~38 MB)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8B949E"/>
                </a:solidFill>
                <a:latin typeface="Calibri"/>
              </a:defRPr>
            </a:pPr>
            <a:r>
              <a:t>All on a frozen LLaVA-v1.5-7B backbone (7B params)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8A6FF"/>
                </a:solidFill>
                <a:latin typeface="Calibri"/>
              </a:defRPr>
            </a:pPr>
            <a:r>
              <a:t>Datasets &amp; Domain Sequence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Domain</a:t>
                      </a:r>
                    </a:p>
                  </a:txBody>
                  <a:tcPr anchor="ctr">
                    <a:solidFill>
                      <a:srgbClr val="193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 anchor="ctr">
                    <a:solidFill>
                      <a:srgbClr val="193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193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Split Criteria</a:t>
                      </a:r>
                    </a:p>
                  </a:txBody>
                  <a:tcPr anchor="ctr">
                    <a:solidFill>
                      <a:srgbClr val="193C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domain_us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BDD100K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US urban/highway driving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Clear weather, daytime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domain_sg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nuScenes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Singapore urban driving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Singapore locations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domain_eu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nuScenes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Boston/EU urban driving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Boston-seaport location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domain_rainy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BDD100K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Adverse weather driving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Rain, fog, snow, night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38404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D29922"/>
                </a:solidFill>
                <a:latin typeface="Calibri"/>
              </a:defRPr>
            </a:pPr>
            <a:r>
              <a:t>Training Sequence (Sequential — one domain at a time):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ctr">
              <a:spcBef>
                <a:spcPts val="400"/>
              </a:spcBef>
              <a:defRPr sz="2000" b="1">
                <a:solidFill>
                  <a:srgbClr val="3FB950"/>
                </a:solidFill>
                <a:latin typeface="Calibri"/>
              </a:defRPr>
            </a:pPr>
            <a:r>
              <a:t>   domain_us  →  domain_sg  →  domain_eu  →  domain_rainy</a:t>
            </a:r>
          </a:p>
          <a:p>
            <a:pPr algn="ctr">
              <a:spcBef>
                <a:spcPts val="400"/>
              </a:spcBef>
              <a:defRPr sz="1400" b="0">
                <a:solidFill>
                  <a:srgbClr val="8B949E"/>
                </a:solidFill>
                <a:latin typeface="Calibri"/>
              </a:defRPr>
            </a:pPr>
            <a:r>
              <a:t>   (BDD100K)      (nuScenes)     (nuScenes)      (BDD100K)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8B949E"/>
                </a:solidFill>
                <a:latin typeface="Calibri"/>
              </a:defRPr>
            </a:pPr>
            <a:r>
              <a:t>BDD100K: 100,000 driving videos from Berkeley DeepDrive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8B949E"/>
                </a:solidFill>
                <a:latin typeface="Calibri"/>
              </a:defRPr>
            </a:pPr>
            <a:r>
              <a:t>nuScenes: 1,000 driving scenes with 3D annotations from Motional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8A6FF"/>
                </a:solidFill>
                <a:latin typeface="Calibri"/>
              </a:defRPr>
            </a:pPr>
            <a:r>
              <a:t>System Architecture</a:t>
            </a:r>
          </a:p>
        </p:txBody>
      </p:sp>
      <p:pic>
        <p:nvPicPr>
          <p:cNvPr id="3" name="Picture 2" descr="architectur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55694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8A6FF"/>
                </a:solidFill>
                <a:latin typeface="Calibri"/>
              </a:defRPr>
            </a:pPr>
            <a:r>
              <a:t>VLA Backbone + LoRA Adapters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D29922"/>
                </a:solidFill>
                <a:latin typeface="Calibri"/>
              </a:defRPr>
            </a:pPr>
            <a:r>
              <a:t>VLA Backbone: LLaVA-v1.5-7B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E6EDF3"/>
                </a:solidFill>
                <a:latin typeface="Calibri"/>
              </a:defRPr>
            </a:pPr>
            <a:r>
              <a:t>• Vision-Language-Action model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6EDF3"/>
                </a:solidFill>
                <a:latin typeface="Calibri"/>
              </a:defRPr>
            </a:pPr>
            <a:r>
              <a:t>• CLIP-ViT-L/14 vision encoder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6EDF3"/>
                </a:solidFill>
                <a:latin typeface="Calibri"/>
              </a:defRPr>
            </a:pPr>
            <a:r>
              <a:t>• Vicuna-7B language model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F85149"/>
                </a:solidFill>
                <a:latin typeface="Calibri"/>
              </a:defRPr>
            </a:pPr>
            <a:r>
              <a:t>• 7.06 Billion parameters — ALL FROZEN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6EDF3"/>
                </a:solidFill>
                <a:latin typeface="Calibri"/>
              </a:defRPr>
            </a:pPr>
            <a:r>
              <a:t>• Loaded in float16 for GPU efficiency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8B949E"/>
                </a:solidFill>
                <a:latin typeface="Calibri"/>
              </a:defRPr>
            </a:pPr>
            <a:r>
              <a:t>• gradient_checkpointing = True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200" b="0">
                <a:solidFill>
                  <a:srgbClr val="8B949E"/>
                </a:solidFill>
                <a:latin typeface="Calibri"/>
              </a:defRPr>
            </a:pPr>
            <a:r>
              <a:t>File: src/models/vla_backbone.py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3FB950"/>
                </a:solidFill>
                <a:latin typeface="Calibri"/>
              </a:defRPr>
            </a:pPr>
            <a:r>
              <a:t>LoRA Adapters (Per Domain)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E6EDF3"/>
                </a:solidFill>
                <a:latin typeface="Calibri"/>
              </a:defRPr>
            </a:pPr>
            <a:r>
              <a:t>Low-Rank Adaptation — inject small trainable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6EDF3"/>
                </a:solidFill>
                <a:latin typeface="Calibri"/>
              </a:defRPr>
            </a:pPr>
            <a:r>
              <a:t>matrices into frozen attention layers: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58A6FF"/>
                </a:solidFill>
                <a:latin typeface="Calibri"/>
              </a:defRPr>
            </a:pPr>
            <a:r>
              <a:t>  Rank (r) = 16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58A6FF"/>
                </a:solidFill>
                <a:latin typeface="Calibri"/>
              </a:defRPr>
            </a:pPr>
            <a:r>
              <a:t>  Alpha = 32 (scaling = 2.0)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58A6FF"/>
                </a:solidFill>
                <a:latin typeface="Calibri"/>
              </a:defRPr>
            </a:pPr>
            <a:r>
              <a:t>  Target: q_proj, v_proj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58A6FF"/>
                </a:solidFill>
                <a:latin typeface="Calibri"/>
              </a:defRPr>
            </a:pPr>
            <a:r>
              <a:t>  Dropout = 0.05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1">
                <a:solidFill>
                  <a:srgbClr val="3FB950"/>
                </a:solidFill>
                <a:latin typeface="Calibri"/>
              </a:defRPr>
            </a:pPr>
            <a:r>
              <a:t>  Params per domain: 24.7M (0.35%)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3FB950"/>
                </a:solidFill>
                <a:latin typeface="Calibri"/>
              </a:defRPr>
            </a:pPr>
            <a:r>
              <a:t>  Storage per domain: ~38 MB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8B949E"/>
                </a:solidFill>
                <a:latin typeface="Calibri"/>
              </a:defRPr>
            </a:pPr>
            <a:r>
              <a:t>  (vs 14 GB for full model)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200" b="0">
                <a:solidFill>
                  <a:srgbClr val="8B949E"/>
                </a:solidFill>
                <a:latin typeface="Calibri"/>
              </a:defRPr>
            </a:pPr>
            <a:r>
              <a:t>File: src/adapters/lora_adapter.py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8A6FF"/>
                </a:solidFill>
                <a:latin typeface="Calibri"/>
              </a:defRPr>
            </a:pPr>
            <a:r>
              <a:t>Elastic Weight Consolidation (EWC)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000" b="1">
                <a:solidFill>
                  <a:srgbClr val="D29922"/>
                </a:solidFill>
                <a:latin typeface="Calibri"/>
              </a:defRPr>
            </a:pPr>
            <a:r>
              <a:t>How EWC Prevents Forgetting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E6EDF3"/>
                </a:solidFill>
                <a:latin typeface="Calibri"/>
              </a:defRPr>
            </a:pPr>
            <a:r>
              <a:t>After training on domain Dk: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6EDF3"/>
                </a:solidFill>
                <a:latin typeface="Calibri"/>
              </a:defRPr>
            </a:pPr>
            <a:r>
              <a:t>  1. Compute Fisher Information Matrix Fk — identifies which weights are IMPORTANT for Dk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6EDF3"/>
                </a:solidFill>
                <a:latin typeface="Calibri"/>
              </a:defRPr>
            </a:pPr>
            <a:r>
              <a:t>  2. Store optimal parameter values θ*k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E6EDF3"/>
                </a:solidFill>
                <a:latin typeface="Calibri"/>
              </a:defRPr>
            </a:pPr>
            <a:r>
              <a:t>When training on domain Dk+1:</a:t>
            </a:r>
          </a:p>
          <a:p>
            <a:pPr algn="l">
              <a:spcBef>
                <a:spcPts val="400"/>
              </a:spcBef>
              <a:defRPr sz="1600" b="1">
                <a:solidFill>
                  <a:srgbClr val="3FB950"/>
                </a:solidFill>
                <a:latin typeface="Calibri"/>
              </a:defRPr>
            </a:pPr>
            <a:r>
              <a:t>  3. Add penalty:  L_ewc = (λ/2) × Σ Fi × (θi − θ*i)²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0">
                <a:solidFill>
                  <a:srgbClr val="D29922"/>
                </a:solidFill>
                <a:latin typeface="Calibri"/>
              </a:defRPr>
            </a:pPr>
            <a:r>
              <a:t>This PENALIZES changes to weights that were important for old domains!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58A6FF"/>
                </a:solidFill>
                <a:latin typeface="Calibri"/>
              </a:defRPr>
            </a:pPr>
            <a:r>
              <a:t>Configuration: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6EDF3"/>
                </a:solidFill>
                <a:latin typeface="Calibri"/>
              </a:defRPr>
            </a:pPr>
            <a:r>
              <a:t>  • Lambda (λ) = 5,000 — strong protection against forgetting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6EDF3"/>
                </a:solidFill>
                <a:latin typeface="Calibri"/>
              </a:defRPr>
            </a:pPr>
            <a:r>
              <a:t>  • Fisher samples = 200 — samples for Fisher computation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6EDF3"/>
                </a:solidFill>
                <a:latin typeface="Calibri"/>
              </a:defRPr>
            </a:pPr>
            <a:r>
              <a:t>  • Variant = Online EWC — running average, memory-efficient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6EDF3"/>
                </a:solidFill>
                <a:latin typeface="Calibri"/>
              </a:defRPr>
            </a:pPr>
            <a:r>
              <a:t>  • Gamma (γ) = 0.95 — slow decay of old Fisher information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200" b="0">
                <a:solidFill>
                  <a:srgbClr val="8B949E"/>
                </a:solidFill>
                <a:latin typeface="Calibri"/>
              </a:defRPr>
            </a:pPr>
            <a:r>
              <a:t>File: src/continual/ewc.py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8A6FF"/>
                </a:solidFill>
                <a:latin typeface="Calibri"/>
              </a:defRPr>
            </a:pPr>
            <a:r>
              <a:t>Experience Replay Buffer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000" b="1">
                <a:solidFill>
                  <a:srgbClr val="D29922"/>
                </a:solidFill>
                <a:latin typeface="Calibri"/>
              </a:defRPr>
            </a:pPr>
            <a:r>
              <a:t>How Replay Prevents Distribution Shift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E6EDF3"/>
                </a:solidFill>
                <a:latin typeface="Calibri"/>
              </a:defRPr>
            </a:pPr>
            <a:r>
              <a:t>Problem: If we only train on new domain data, the model's distribution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6EDF3"/>
                </a:solidFill>
                <a:latin typeface="Calibri"/>
              </a:defRPr>
            </a:pPr>
            <a:r>
              <a:t>completely shifts to the new domain, forgetting old ones.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500" b="1">
                <a:solidFill>
                  <a:srgbClr val="3FB950"/>
                </a:solidFill>
                <a:latin typeface="Calibri"/>
              </a:defRPr>
            </a:pPr>
            <a:r>
              <a:t>Solution: Mix old domain samples into every training batch!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58A6FF"/>
                </a:solidFill>
                <a:latin typeface="Calibri"/>
              </a:defRPr>
            </a:pPr>
            <a:r>
              <a:t>  ┌──────────────────────────────────────────┐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58A6FF"/>
                </a:solidFill>
                <a:latin typeface="Calibri"/>
              </a:defRPr>
            </a:pPr>
            <a:r>
              <a:t>  │  New Domain Data (70%) ─┐                │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58A6FF"/>
                </a:solidFill>
                <a:latin typeface="Calibri"/>
              </a:defRPr>
            </a:pPr>
            <a:r>
              <a:t>  │                         ├→ Mixed Batch   │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58A6FF"/>
                </a:solidFill>
                <a:latin typeface="Calibri"/>
              </a:defRPr>
            </a:pPr>
            <a:r>
              <a:t>  │  Replay Buffer (30%) ──┘                 │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58A6FF"/>
                </a:solidFill>
                <a:latin typeface="Calibri"/>
              </a:defRPr>
            </a:pPr>
            <a:r>
              <a:t>  └──────────────────────────────────────────┘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BC8CFF"/>
                </a:solidFill>
                <a:latin typeface="Calibri"/>
              </a:defRPr>
            </a:pPr>
            <a:r>
              <a:t>Configuration: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6EDF3"/>
                </a:solidFill>
                <a:latin typeface="Calibri"/>
              </a:defRPr>
            </a:pPr>
            <a:r>
              <a:t>  • Buffer size: 2,000 samples per domain (reservoir sampling)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6EDF3"/>
                </a:solidFill>
                <a:latin typeface="Calibri"/>
              </a:defRPr>
            </a:pPr>
            <a:r>
              <a:t>  • Replay ratio: 0.3 (30% old data in each batch)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6EDF3"/>
                </a:solidFill>
                <a:latin typeface="Calibri"/>
              </a:defRPr>
            </a:pPr>
            <a:r>
              <a:t>  • Storage: Disk-based (memory efficient)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200" b="0">
                <a:solidFill>
                  <a:srgbClr val="8B949E"/>
                </a:solidFill>
                <a:latin typeface="Calibri"/>
              </a:defRPr>
            </a:pPr>
            <a:r>
              <a:t>File: src/continual/replay_buffer.py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8A6FF"/>
                </a:solidFill>
                <a:latin typeface="Calibri"/>
              </a:defRPr>
            </a:pPr>
            <a:r>
              <a:t>Multi-Head Output &amp; Domain Router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371600"/>
          <a:ext cx="10698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Head</a:t>
                      </a:r>
                    </a:p>
                  </a:txBody>
                  <a:tcPr anchor="ctr">
                    <a:solidFill>
                      <a:srgbClr val="193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Output</a:t>
                      </a:r>
                    </a:p>
                  </a:txBody>
                  <a:tcPr anchor="ctr">
                    <a:solidFill>
                      <a:srgbClr val="193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Shape</a:t>
                      </a:r>
                    </a:p>
                  </a:txBody>
                  <a:tcPr anchor="ctr">
                    <a:solidFill>
                      <a:srgbClr val="193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193C7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WaypointHead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Trajectory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[B, 12, 2]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12 future waypoints (x, y)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HazardHead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Hazard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[B, 8]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8-class hazard detection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RegulationHead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Rules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[B, 15]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15-class traffic regulation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WeatherHead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Weather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[B, 6]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6-class weather classification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Integration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Fusion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[B, 512]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Attention-based head fusion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800" b="1">
                <a:solidFill>
                  <a:srgbClr val="3FB950"/>
                </a:solidFill>
                <a:latin typeface="Calibri"/>
              </a:defRPr>
            </a:pPr>
            <a:r>
              <a:t>Domain Router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E6EDF3"/>
                </a:solidFill>
                <a:latin typeface="Calibri"/>
              </a:defRPr>
            </a:pPr>
            <a:r>
              <a:t>At inference time, the Domain Router automatically detects which driving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6EDF3"/>
                </a:solidFill>
                <a:latin typeface="Calibri"/>
              </a:defRPr>
            </a:pPr>
            <a:r>
              <a:t>domain an input image belongs to and routes it to the correct LoRA adapter.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58A6FF"/>
                </a:solidFill>
                <a:latin typeface="Calibri"/>
              </a:defRPr>
            </a:pPr>
            <a:r>
              <a:t>  Image → Router → domain_us/domain_sg/domain_eu/domain_rainy → Load correct LoRA adapter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8A6FF"/>
                </a:solidFill>
                <a:latin typeface="Calibri"/>
              </a:defRPr>
            </a:pPr>
            <a:r>
              <a:t>Training Pipeline (8 Stages)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193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Stage</a:t>
                      </a:r>
                    </a:p>
                  </a:txBody>
                  <a:tcPr anchor="ctr">
                    <a:solidFill>
                      <a:srgbClr val="193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193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93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93C7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verify_backbone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Load &amp; freeze LLaVA-7B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✅ Done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Jul 25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domain_us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Train US driving (BDD100K)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✅ Done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Jul 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domain_sg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Train Singapore (nuScenes)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✅ Done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Jul 31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domain_eu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Train EU/Boston (nuScenes)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✅ Done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Aug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domain_rainy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Train adverse weather (BDD100K)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✅ Done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Aug 3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train_router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Train domain classifier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✅ Done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Aug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train_heads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Train 4 output heads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✅ Done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Aug 4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benchmark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Run CADRE-Bench evaluation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✅ Done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Aug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7548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3FB950"/>
                </a:solidFill>
                <a:latin typeface="Calibri"/>
              </a:defRPr>
            </a:pPr>
            <a:r>
              <a:t>Pipeline is fully resumable — saves progress after each stage.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8B949E"/>
                </a:solidFill>
                <a:latin typeface="Calibri"/>
              </a:defRPr>
            </a:pPr>
            <a:r>
              <a:t>If interrupted, rerun the same command to resume from where it stopped.</a:t>
            </a:r>
          </a:p>
          <a:p>
            <a:pPr algn="l">
              <a:spcBef>
                <a:spcPts val="400"/>
              </a:spcBef>
              <a:defRPr sz="1400" b="1">
                <a:solidFill>
                  <a:srgbClr val="58A6FF"/>
                </a:solidFill>
                <a:latin typeface="Calibri"/>
              </a:defRPr>
            </a:pPr>
            <a:r>
              <a:t>Command:  python scripts/run_pipeline.py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8A6FF"/>
                </a:solidFill>
                <a:latin typeface="Calibri"/>
              </a:defRPr>
            </a:pPr>
            <a:r>
              <a:t>Training Timeline</a:t>
            </a:r>
          </a:p>
        </p:txBody>
      </p:sp>
      <p:pic>
        <p:nvPicPr>
          <p:cNvPr id="3" name="Picture 2" descr="training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45959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8A6FF"/>
                </a:solidFill>
                <a:latin typeface="Calibri"/>
              </a:defRPr>
            </a:pPr>
            <a:r>
              <a:t>Results: CADRE-Bench Metrics</a:t>
            </a:r>
          </a:p>
        </p:txBody>
      </p:sp>
      <p:pic>
        <p:nvPicPr>
          <p:cNvPr id="3" name="Picture 2" descr="metric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347472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4846320"/>
          <a:ext cx="9418320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9440"/>
                <a:gridCol w="3139440"/>
                <a:gridCol w="313944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193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Score</a:t>
                      </a:r>
                    </a:p>
                  </a:txBody>
                  <a:tcPr anchor="ctr">
                    <a:solidFill>
                      <a:srgbClr val="193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Meaning</a:t>
                      </a:r>
                    </a:p>
                  </a:txBody>
                  <a:tcPr anchor="ctr">
                    <a:solidFill>
                      <a:srgbClr val="193C7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BWT (Forgetting)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-1.17%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Near-zero forgetting of old domains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FWT (Transfer)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+23.33%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Old training helps new domains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Plasticity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98.46%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Learns new domains nearly as well as single-task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Efficiency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99.65%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Only 0.35% parameter overhead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CDAR (Overall)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0.9735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Outstanding composite score (97.35%)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8A6FF"/>
                </a:solidFill>
                <a:latin typeface="Calibri"/>
              </a:defRPr>
            </a:pPr>
            <a:r>
              <a:t>Results: Performance Matrix</a:t>
            </a:r>
          </a:p>
        </p:txBody>
      </p:sp>
      <p:pic>
        <p:nvPicPr>
          <p:cNvPr id="3" name="Picture 2" descr="performance_matrix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400800" cy="53035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2320" y="1188720"/>
            <a:ext cx="4572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D29922"/>
                </a:solidFill>
                <a:latin typeface="Calibri"/>
              </a:defRPr>
            </a:pPr>
            <a:r>
              <a:t>How to Read This Matrix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300" b="0">
                <a:solidFill>
                  <a:srgbClr val="E6EDF3"/>
                </a:solidFill>
                <a:latin typeface="Calibri"/>
              </a:defRPr>
            </a:pPr>
            <a:r>
              <a:t>R[i][j] = accuracy on domain j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E6EDF3"/>
                </a:solidFill>
                <a:latin typeface="Calibri"/>
              </a:defRPr>
            </a:pPr>
            <a:r>
              <a:t>after training through domain i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1">
                <a:solidFill>
                  <a:srgbClr val="58A6FF"/>
                </a:solidFill>
                <a:latin typeface="Calibri"/>
              </a:defRPr>
            </a:pPr>
            <a:r>
              <a:t>Diagonal (dashed boxes):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8B949E"/>
                </a:solidFill>
                <a:latin typeface="Calibri"/>
              </a:defRPr>
            </a:pPr>
            <a:r>
              <a:t>How well it learns each domain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3FB950"/>
                </a:solidFill>
                <a:latin typeface="Calibri"/>
              </a:defRPr>
            </a:pPr>
            <a:r>
              <a:t>→ 94% to 97% ✅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1">
                <a:solidFill>
                  <a:srgbClr val="3FB950"/>
                </a:solidFill>
                <a:latin typeface="Calibri"/>
              </a:defRPr>
            </a:pPr>
            <a:r>
              <a:t>Final Row (after all training):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8B949E"/>
                </a:solidFill>
                <a:latin typeface="Calibri"/>
              </a:defRPr>
            </a:pPr>
            <a:r>
              <a:t>All domains retain &gt;92.5%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1">
                <a:solidFill>
                  <a:srgbClr val="F85149"/>
                </a:solidFill>
                <a:latin typeface="Calibri"/>
              </a:defRPr>
            </a:pPr>
            <a:r>
              <a:t>Forgetting Example: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8B949E"/>
                </a:solidFill>
                <a:latin typeface="Calibri"/>
              </a:defRPr>
            </a:pPr>
            <a:r>
              <a:t>US: 0.94 → 0.925 = only -1.5%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8B949E"/>
                </a:solidFill>
                <a:latin typeface="Calibri"/>
              </a:defRPr>
            </a:pPr>
            <a:r>
              <a:t>after learning 3 more domains!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8A6FF"/>
                </a:solidFill>
                <a:latin typeface="Calibri"/>
              </a:defRPr>
            </a:pPr>
            <a:r>
              <a:t>Results: Domain-wise Performance</a:t>
            </a:r>
          </a:p>
        </p:txBody>
      </p:sp>
      <p:pic>
        <p:nvPicPr>
          <p:cNvPr id="3" name="Picture 2" descr="domain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8A6FF"/>
                </a:solidFill>
                <a:latin typeface="Calibri"/>
              </a:defRPr>
            </a:pPr>
            <a:r>
              <a:t>Parameter Efficiency: Why LoRA Matters</a:t>
            </a:r>
          </a:p>
        </p:txBody>
      </p:sp>
      <p:pic>
        <p:nvPicPr>
          <p:cNvPr id="3" name="Picture 2" descr="parameter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347472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4846320"/>
          <a:ext cx="85039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5980"/>
                <a:gridCol w="2125980"/>
                <a:gridCol w="2125980"/>
                <a:gridCol w="21259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Approach</a:t>
                      </a:r>
                    </a:p>
                  </a:txBody>
                  <a:tcPr anchor="ctr">
                    <a:solidFill>
                      <a:srgbClr val="193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Trainable Params</a:t>
                      </a:r>
                    </a:p>
                  </a:txBody>
                  <a:tcPr anchor="ctr">
                    <a:solidFill>
                      <a:srgbClr val="193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Storage / Domain</a:t>
                      </a:r>
                    </a:p>
                  </a:txBody>
                  <a:tcPr anchor="ctr">
                    <a:solidFill>
                      <a:srgbClr val="193C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4 Domains Total</a:t>
                      </a:r>
                    </a:p>
                  </a:txBody>
                  <a:tcPr anchor="ctr">
                    <a:solidFill>
                      <a:srgbClr val="193C7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Full Retrain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7.06B (100%)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~14 GB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~56 GB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CADRE (LoRA)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24.7M (0.35%)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~38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~152 MB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Savings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99.65% fewer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368× smaller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82828"/>
                          </a:solidFill>
                          <a:latin typeface="Calibri"/>
                        </a:defRPr>
                      </a:pPr>
                      <a:r>
                        <a:t>368× smaller</a:t>
                      </a:r>
                    </a:p>
                  </a:txBody>
                  <a:tcPr anchor="ctr">
                    <a:solidFill>
                      <a:srgbClr val="F0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58A6FF"/>
                </a:solidFill>
                <a:latin typeface="Calibri"/>
              </a:defRPr>
            </a:pPr>
            <a:r>
              <a:t>Conclusion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000" b="1">
                <a:solidFill>
                  <a:srgbClr val="3FB950"/>
                </a:solidFill>
                <a:latin typeface="Calibri"/>
              </a:defRPr>
            </a:pPr>
            <a:r>
              <a:t>What We Built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E6EDF3"/>
                </a:solidFill>
                <a:latin typeface="Calibri"/>
              </a:defRPr>
            </a:pPr>
            <a:r>
              <a:t>✅ Continual learning framework for VLA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8B949E"/>
                </a:solidFill>
                <a:latin typeface="Calibri"/>
              </a:defRPr>
            </a:pPr>
            <a:r>
              <a:t>   autonomous driving (EWC + Replay + LoRA)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E6EDF3"/>
                </a:solidFill>
                <a:latin typeface="Calibri"/>
              </a:defRPr>
            </a:pPr>
            <a:r>
              <a:t>✅ Trained on 4 sequential domains without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8B949E"/>
                </a:solidFill>
                <a:latin typeface="Calibri"/>
              </a:defRPr>
            </a:pPr>
            <a:r>
              <a:t>   catastrophic forgetting (BWT = -1.17%)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E6EDF3"/>
                </a:solidFill>
                <a:latin typeface="Calibri"/>
              </a:defRPr>
            </a:pPr>
            <a:r>
              <a:t>✅ Parameter-efficient: 0.35% overhead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8B949E"/>
                </a:solidFill>
                <a:latin typeface="Calibri"/>
              </a:defRPr>
            </a:pPr>
            <a:r>
              <a:t>   (~38 MB adapter vs ~14 GB full model)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E6EDF3"/>
                </a:solidFill>
                <a:latin typeface="Calibri"/>
              </a:defRPr>
            </a:pPr>
            <a:r>
              <a:t>✅ CADRE-Bench: Custom benchmark protocol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8B949E"/>
                </a:solidFill>
                <a:latin typeface="Calibri"/>
              </a:defRPr>
            </a:pPr>
            <a:r>
              <a:t>   with 5 metrics (BWT, FWT, Plasticity,</a:t>
            </a:r>
          </a:p>
          <a:p>
            <a:pPr algn="l">
              <a:spcBef>
                <a:spcPts val="400"/>
              </a:spcBef>
              <a:defRPr sz="1300" b="0">
                <a:solidFill>
                  <a:srgbClr val="8B949E"/>
                </a:solidFill>
                <a:latin typeface="Calibri"/>
              </a:defRPr>
            </a:pPr>
            <a:r>
              <a:t>   Efficiency, CDAR)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0">
                <a:solidFill>
                  <a:srgbClr val="E6EDF3"/>
                </a:solidFill>
                <a:latin typeface="Calibri"/>
              </a:defRPr>
            </a:pPr>
            <a:r>
              <a:t>✅ Fully reproducible &amp; resumable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2000" b="1">
                <a:solidFill>
                  <a:srgbClr val="D29922"/>
                </a:solidFill>
                <a:latin typeface="Calibri"/>
              </a:defRPr>
            </a:pPr>
            <a:r>
              <a:t>Key Results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600" b="1">
                <a:solidFill>
                  <a:srgbClr val="3FB950"/>
                </a:solidFill>
                <a:latin typeface="Calibri"/>
              </a:defRPr>
            </a:pPr>
            <a:r>
              <a:t>  BWT: -1.17%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8B949E"/>
                </a:solidFill>
                <a:latin typeface="Calibri"/>
              </a:defRPr>
            </a:pPr>
            <a:r>
              <a:t>    Near-zero forgetting</a:t>
            </a:r>
          </a:p>
          <a:p>
            <a:pPr algn="l">
              <a:spcBef>
                <a:spcPts val="400"/>
              </a:spcBef>
              <a:defRPr sz="1600" b="1">
                <a:solidFill>
                  <a:srgbClr val="58A6FF"/>
                </a:solidFill>
                <a:latin typeface="Calibri"/>
              </a:defRPr>
            </a:pPr>
            <a:r>
              <a:t>  FWT: +23.33%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8B949E"/>
                </a:solidFill>
                <a:latin typeface="Calibri"/>
              </a:defRPr>
            </a:pPr>
            <a:r>
              <a:t>    Strong positive transfer</a:t>
            </a:r>
          </a:p>
          <a:p>
            <a:pPr algn="l">
              <a:spcBef>
                <a:spcPts val="400"/>
              </a:spcBef>
              <a:defRPr sz="1600" b="1">
                <a:solidFill>
                  <a:srgbClr val="3FB950"/>
                </a:solidFill>
                <a:latin typeface="Calibri"/>
              </a:defRPr>
            </a:pPr>
            <a:r>
              <a:t>  Plasticity: 98.46%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8B949E"/>
                </a:solidFill>
                <a:latin typeface="Calibri"/>
              </a:defRPr>
            </a:pPr>
            <a:r>
              <a:t>    Excellent learning</a:t>
            </a:r>
          </a:p>
          <a:p>
            <a:pPr algn="l">
              <a:spcBef>
                <a:spcPts val="400"/>
              </a:spcBef>
              <a:defRPr sz="1600" b="1">
                <a:solidFill>
                  <a:srgbClr val="3FB950"/>
                </a:solidFill>
                <a:latin typeface="Calibri"/>
              </a:defRPr>
            </a:pPr>
            <a:r>
              <a:t>  Efficiency: 99.65%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8B949E"/>
                </a:solidFill>
                <a:latin typeface="Calibri"/>
              </a:defRPr>
            </a:pPr>
            <a:r>
              <a:t>    Minimal overhead</a:t>
            </a:r>
          </a:p>
          <a:p>
            <a:pPr algn="l">
              <a:spcBef>
                <a:spcPts val="400"/>
              </a:spcBef>
              <a:defRPr sz="1600" b="1">
                <a:solidFill>
                  <a:srgbClr val="D29922"/>
                </a:solidFill>
                <a:latin typeface="Calibri"/>
              </a:defRPr>
            </a:pPr>
            <a:r>
              <a:t>  CDAR: 0.9735</a:t>
            </a:r>
          </a:p>
          <a:p>
            <a:pPr algn="l">
              <a:spcBef>
                <a:spcPts val="400"/>
              </a:spcBef>
              <a:defRPr sz="1200" b="0">
                <a:solidFill>
                  <a:srgbClr val="8B949E"/>
                </a:solidFill>
                <a:latin typeface="Calibri"/>
              </a:defRPr>
            </a:pPr>
            <a:r>
              <a:t>    Outstanding overall</a:t>
            </a:r>
          </a:p>
          <a:p>
            <a:pPr algn="l">
              <a:spcBef>
                <a:spcPts val="400"/>
              </a:spcBef>
              <a:defRPr sz="1600" b="0">
                <a:solidFill>
                  <a:srgbClr val="E6EDF3"/>
                </a:solidFill>
                <a:latin typeface="Calibri"/>
              </a:defRPr>
            </a:pPr>
          </a:p>
          <a:p>
            <a:pPr algn="l">
              <a:spcBef>
                <a:spcPts val="400"/>
              </a:spcBef>
              <a:defRPr sz="1400" b="1">
                <a:solidFill>
                  <a:srgbClr val="8B949E"/>
                </a:solidFill>
                <a:latin typeface="Calibri"/>
              </a:defRPr>
            </a:pPr>
            <a:r>
              <a:t>References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8B949E"/>
                </a:solidFill>
                <a:latin typeface="Calibri"/>
              </a:defRPr>
            </a:pPr>
            <a:r>
              <a:t>Kirkpatrick et al. (2017) - EWC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8B949E"/>
                </a:solidFill>
                <a:latin typeface="Calibri"/>
              </a:defRPr>
            </a:pPr>
            <a:r>
              <a:t>Hu et al. (2022) - LoRA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8B949E"/>
                </a:solidFill>
                <a:latin typeface="Calibri"/>
              </a:defRPr>
            </a:pPr>
            <a:r>
              <a:t>Liu et al. (2024) - LLaVA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8B949E"/>
                </a:solidFill>
                <a:latin typeface="Calibri"/>
              </a:defRPr>
            </a:pPr>
            <a:r>
              <a:t>BDD100K + nuScenes 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8A6FF"/>
                </a:solidFill>
                <a:latin typeface="Calibri"/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